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KR Light"/>
      <p:regular r:id="rId201314"/>
    </p:embeddedFont>
    <p:embeddedFont>
      <p:font typeface="Noto Sans KR"/>
      <p:regular r:id="rId201315"/>
    </p:embeddedFont>
    <p:embeddedFont>
      <p:font typeface="Noto Sans KR Medium"/>
      <p:regular r:id="rId201316"/>
    </p:embeddedFont>
    <p:embeddedFont>
      <p:font typeface="Noto Sans K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가벼운 인사와 함께 발표를 시작합니다. 반려식물을 키우는 일이 어렵거나 거창한 것이 아니라, 작은 화분 하나로 누구나 편안하게 시작할 수 있음을 짚어줍니다.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식물이 거창한 관리가 필요한 대상이 아니라, 눈길이 닿을 때마다 기분을 전환해 주는 작은 즐거움임을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야외 정원이 없더라도 창가, 테이블, 선반 등 집 안 곳곳의 작은 자투리 공간이 훌륭한 식물의 자리가 될 수 있음을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외형만 보고 충동적으로 구매하기보다, 식물을 놓을 장소의 환경을 먼저 확인하고 그에 맞는 품종을 고르는 것이 성공 확률을 높이는 핵심임을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식물이 강한 햇빛을 좋아하는 것은 아니라는 점을 짚어줍니다. 밝은 간접광이 대부분의 실내 관엽식물에 가장 무난한 빛 환경입니다.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초보자가 가장 많이 하는 실수인 '주기적인 요일별 물주기'의 위험성을 설명하고, 식물이 보내는 신호를 직접 확인하는 방법을 조언합니다. 겉흙과 속흙을 손으로 확인하는 습관이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매일 시간을 많이 들일 필요 없이, 하루 단 몇 초의 눈맞춤과 손길이 식물과의 유대를 키우고 문제를 조기에 발견하는 비결임을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실패에 대한 부담감을 덜어주는 위로의 카드입니다. 노란 잎이 생기거나 잎끝이 타는 일은 자연스러운 배움의 일부라는 점을 부드럽게 이야기해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실행으로 옮길 수 있는 구체적인 3단계 프로세스를 설명합니다. 단계별로 차근차근 따라 하면 누구나 실패 없이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인사를 건네며 청중에게 오늘 퇴근길 작은 초록 화분 하나를 데려와 보기를 격려합니다.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4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4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74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3618389"/>
            <a:ext cx="67562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0E362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초보 가드너를 위한 가이드</a:t>
            </a:r>
            <a:endParaRPr lang="ko-KR" sz="1300" dirty="0"/>
          </a:p>
        </p:txBody>
      </p:sp>
      <p:sp>
        <p:nvSpPr>
          <p:cNvPr id="3" name="Text 1"/>
          <p:cNvSpPr/>
          <p:nvPr/>
        </p:nvSpPr>
        <p:spPr>
          <a:xfrm>
            <a:off x="965176" y="4256875"/>
            <a:ext cx="614664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800" spc="-38" kern="100" dirty="0">
                <a:solidFill>
                  <a:srgbClr val="0E3622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반려식물과 함께하는</a:t>
            </a:r>
            <a:endParaRPr lang="ko-KR" sz="3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800" spc="-38" kern="100" dirty="0">
                <a:solidFill>
                  <a:srgbClr val="0E3622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작은 시작</a:t>
            </a:r>
            <a:endParaRPr lang="ko-KR" sz="3800" dirty="0"/>
          </a:p>
        </p:txBody>
      </p:sp>
      <p:sp>
        <p:nvSpPr>
          <p:cNvPr id="4" name="Text 2"/>
          <p:cNvSpPr/>
          <p:nvPr/>
        </p:nvSpPr>
        <p:spPr>
          <a:xfrm>
            <a:off x="965176" y="5477034"/>
            <a:ext cx="614664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0E362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거창한 정원이 없어도 괜찮아요. 내 공간에 꼭 맞는 화분 하나로 일상에 싱그러운 초록을 더해보세요.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965176" y="6187956"/>
            <a:ext cx="67562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spc="13" kern="100" dirty="0">
                <a:solidFill>
                  <a:srgbClr val="0E362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홈 가드닝 첫걸음 안내서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4"/>
            <a:ext cx="650223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DAILY GREEN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5493"/>
            <a:ext cx="604504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하루에 초록 한 조각을</a:t>
            </a:r>
            <a:endParaRPr lang="ko-KR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더해 보세요</a:t>
            </a:r>
            <a:endParaRPr lang="ko-KR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41538"/>
            <a:ext cx="6045049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63471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공간의 생기와 취향</a:t>
            </a:r>
            <a:endParaRPr lang="ko-KR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569156"/>
            <a:ext cx="2793930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무채색이었던 방 한편이나 서재 책상 위에 작은 화분 하나만 놓아도 주변 분위기가 온화해집니다. 내 손으로 고른 토분과 잎의 형태는 공간을 나만의 취향으로 물들입니다.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3860703" y="3163471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작은 변화가 주는 기쁨</a:t>
            </a:r>
            <a:endParaRPr lang="ko-KR" sz="1800" dirty="0"/>
          </a:p>
        </p:txBody>
      </p:sp>
      <p:sp>
        <p:nvSpPr>
          <p:cNvPr id="8" name="Text 6"/>
          <p:cNvSpPr/>
          <p:nvPr/>
        </p:nvSpPr>
        <p:spPr>
          <a:xfrm>
            <a:off x="3860703" y="3569156"/>
            <a:ext cx="2793930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바쁜 하루 끝에 조용히 돋아난 연둣빛 새잎을 발견하는 순간, 일상에 작은 위로와 성장의 기쁨이 깃듭니다. 식물과 함께하는 시간은 일상을 다정하게 깨웁니다.</a:t>
            </a:r>
            <a:endParaRPr lang="ko-KR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7987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7061" y="375444"/>
            <a:ext cx="665463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INDOOR SPACES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537061" y="691493"/>
            <a:ext cx="604504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넓은 정원이 없어도</a:t>
            </a:r>
            <a:endParaRPr lang="ko-KR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괜찮아요</a:t>
            </a:r>
            <a:endParaRPr lang="ko-KR" sz="3000" dirty="0"/>
          </a:p>
        </p:txBody>
      </p:sp>
      <p:sp>
        <p:nvSpPr>
          <p:cNvPr id="5" name="Shape 2"/>
          <p:cNvSpPr/>
          <p:nvPr/>
        </p:nvSpPr>
        <p:spPr>
          <a:xfrm>
            <a:off x="5537061" y="1887538"/>
            <a:ext cx="6045049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061" y="2064643"/>
            <a:ext cx="507987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7061" y="2724725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따스한 창가 턱</a:t>
            </a:r>
            <a:endParaRPr lang="ko-KR" sz="1800" dirty="0"/>
          </a:p>
        </p:txBody>
      </p:sp>
      <p:sp>
        <p:nvSpPr>
          <p:cNvPr id="8" name="Text 4"/>
          <p:cNvSpPr/>
          <p:nvPr/>
        </p:nvSpPr>
        <p:spPr>
          <a:xfrm>
            <a:off x="5537061" y="3130411"/>
            <a:ext cx="279393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햇살과 바람이 가장 먼저 머무는 자리로, 볕을 좋아하는 식물에게 최적의 보금자리입니다.</a:t>
            </a:r>
            <a:endParaRPr lang="ko-KR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180" y="2064643"/>
            <a:ext cx="507987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88180" y="2724725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일하는 책상 한편</a:t>
            </a:r>
            <a:endParaRPr lang="ko-KR" sz="1800" dirty="0"/>
          </a:p>
        </p:txBody>
      </p:sp>
      <p:sp>
        <p:nvSpPr>
          <p:cNvPr id="11" name="Text 6"/>
          <p:cNvSpPr/>
          <p:nvPr/>
        </p:nvSpPr>
        <p:spPr>
          <a:xfrm>
            <a:off x="8788180" y="3130411"/>
            <a:ext cx="279393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컴퓨터 옆 손 닿는 자리에 두어 손쉽게 상태를 살필 수 있습니다.</a:t>
            </a:r>
            <a:endParaRPr lang="ko-KR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061" y="4454525"/>
            <a:ext cx="507987" cy="508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37061" y="5114608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선반과 사이드 테이블</a:t>
            </a:r>
            <a:endParaRPr lang="ko-KR" sz="1800" dirty="0"/>
          </a:p>
        </p:txBody>
      </p:sp>
      <p:sp>
        <p:nvSpPr>
          <p:cNvPr id="14" name="Text 8"/>
          <p:cNvSpPr/>
          <p:nvPr/>
        </p:nvSpPr>
        <p:spPr>
          <a:xfrm>
            <a:off x="5537061" y="5520293"/>
            <a:ext cx="279393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늘어지는 덩굴성 식물이나 반음지 식물을 올려두어 실내 장식 효과를 더합니다.</a:t>
            </a:r>
            <a:endParaRPr lang="ko-KR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180" y="4454525"/>
            <a:ext cx="507987" cy="508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88180" y="5114608"/>
            <a:ext cx="27939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완벽한 실내 적응</a:t>
            </a:r>
            <a:endParaRPr lang="ko-KR" sz="1800" dirty="0"/>
          </a:p>
        </p:txBody>
      </p:sp>
      <p:sp>
        <p:nvSpPr>
          <p:cNvPr id="17" name="Text 10"/>
          <p:cNvSpPr/>
          <p:nvPr/>
        </p:nvSpPr>
        <p:spPr>
          <a:xfrm>
            <a:off x="8788180" y="5520293"/>
            <a:ext cx="279393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정원이나 마당이 없어도 실내 환경에 적응해 튼튼하게 자라는 식물은 아주 많습니다.</a:t>
            </a:r>
            <a:endParaRPr lang="ko-K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SMART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5493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첫 식물은 집 환경에 맞춰 고르세요</a:t>
            </a:r>
            <a:endParaRPr lang="ko-KR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22437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499916"/>
            <a:ext cx="5333867" cy="2810173"/>
          </a:xfrm>
          <a:prstGeom prst="rect">
            <a:avLst/>
          </a:prstGeom>
          <a:solidFill>
            <a:srgbClr val="FFF4E2"/>
          </a:solidFill>
          <a:ln/>
        </p:spPr>
      </p:sp>
      <p:sp>
        <p:nvSpPr>
          <p:cNvPr id="6" name="Text 4"/>
          <p:cNvSpPr/>
          <p:nvPr/>
        </p:nvSpPr>
        <p:spPr>
          <a:xfrm>
            <a:off x="990575" y="2875359"/>
            <a:ext cx="495287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spc="130" kern="100" dirty="0">
                <a:solidFill>
                  <a:srgbClr val="0000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STEP 1 · 환경 파악하기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990575" y="3184446"/>
            <a:ext cx="457188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0000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우리 집의 빛과 공간 점검</a:t>
            </a:r>
            <a:endParaRPr 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990575" y="3637340"/>
            <a:ext cx="45718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식물을 놓을 자리에 볕이 몇 시간 드는지, 바람이 잘 통하는지 미리 살핍니다.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990575" y="4274245"/>
            <a:ext cx="4571886" cy="31651"/>
          </a:xfrm>
          <a:prstGeom prst="roundRect">
            <a:avLst>
              <a:gd name="adj" fmla="val 49998"/>
            </a:avLst>
          </a:prstGeom>
          <a:solidFill>
            <a:srgbClr val="FFA285"/>
          </a:solidFill>
          <a:ln/>
        </p:spPr>
      </p:sp>
      <p:sp>
        <p:nvSpPr>
          <p:cNvPr id="10" name="Text 8"/>
          <p:cNvSpPr/>
          <p:nvPr/>
        </p:nvSpPr>
        <p:spPr>
          <a:xfrm>
            <a:off x="990575" y="4487446"/>
            <a:ext cx="45718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창문 방향, 통풍 조건, 가구 배치 등 공간의 물리적 환경이 식물 선택의 기준이 됩니다.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248244" y="2499916"/>
            <a:ext cx="5333867" cy="2810173"/>
          </a:xfrm>
          <a:prstGeom prst="rect">
            <a:avLst/>
          </a:prstGeom>
          <a:solidFill>
            <a:srgbClr val="FFF4E2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234" y="2875359"/>
            <a:ext cx="495287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spc="130" kern="100" dirty="0">
                <a:solidFill>
                  <a:srgbClr val="0000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STEP 2 · 식물 매칭하기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629234" y="3184446"/>
            <a:ext cx="457188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0000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환경에 맞는 순한 식물 선택</a:t>
            </a:r>
            <a:endParaRPr lang="ko-KR" sz="2200" dirty="0"/>
          </a:p>
        </p:txBody>
      </p:sp>
      <p:sp>
        <p:nvSpPr>
          <p:cNvPr id="14" name="Text 12"/>
          <p:cNvSpPr/>
          <p:nvPr/>
        </p:nvSpPr>
        <p:spPr>
          <a:xfrm>
            <a:off x="6629234" y="3637340"/>
            <a:ext cx="45718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관리 안내서를 확인하고, 까다롭지 않아 초보자도 안심하고 키울 수 있는 품종을 고릅니다.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629234" y="4274245"/>
            <a:ext cx="4571886" cy="31651"/>
          </a:xfrm>
          <a:prstGeom prst="roundRect">
            <a:avLst>
              <a:gd name="adj" fmla="val 49998"/>
            </a:avLst>
          </a:prstGeom>
          <a:solidFill>
            <a:srgbClr val="FFA285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234" y="4487446"/>
            <a:ext cx="45718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스킨답서스, 몬스테라, 산세베리아처럼 실내 환경 적응력이 뛰어난 식물로 첫걸음을 떼어보세요.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609585" y="604137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spc="26" kern="100" dirty="0">
                <a:solidFill>
                  <a:srgbClr val="C3E3CF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참고: 영국왕립원예협회(RHS) 실내 가드닝 가이드 권장 사항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LIGHT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5493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빛은 식물마다 다르게 필요해요</a:t>
            </a:r>
            <a:endParaRPr lang="ko-KR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22437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39566"/>
            <a:ext cx="10972526" cy="33307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04127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spc="26" kern="100" dirty="0">
                <a:solidFill>
                  <a:srgbClr val="C3E3CF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참고: 식물별 고유 광요구도에 따른 위치 배치가 성장의 첫 번째 조건입니다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WATERING WISDOM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5493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물은 달력보다 식물 상태를 보고 주세요</a:t>
            </a:r>
            <a:endParaRPr lang="ko-KR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22437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52266"/>
            <a:ext cx="9358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9003" y="2310388"/>
            <a:ext cx="658240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흙 상태 확인하기</a:t>
            </a:r>
            <a:endParaRPr lang="ko-KR" sz="1800" dirty="0"/>
          </a:p>
        </p:txBody>
      </p:sp>
      <p:sp>
        <p:nvSpPr>
          <p:cNvPr id="7" name="Text 5"/>
          <p:cNvSpPr/>
          <p:nvPr/>
        </p:nvSpPr>
        <p:spPr>
          <a:xfrm>
            <a:off x="1139003" y="2716074"/>
            <a:ext cx="658240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손가락 한 마디나 나무 막대로 속흙까지 확인하고, 말랐을 때 충분히 물을 줍니다.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8026199" y="231038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A285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속흙 마름 점검</a:t>
            </a:r>
            <a:endParaRPr lang="ko-KR" sz="1800" dirty="0"/>
          </a:p>
        </p:txBody>
      </p:sp>
      <p:sp>
        <p:nvSpPr>
          <p:cNvPr id="9" name="Text 7"/>
          <p:cNvSpPr/>
          <p:nvPr/>
        </p:nvSpPr>
        <p:spPr>
          <a:xfrm>
            <a:off x="8026199" y="2719090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가장 안전한 지표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09585" y="3668117"/>
            <a:ext cx="9358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39003" y="3726240"/>
            <a:ext cx="658240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잎의 신호 관찰하기</a:t>
            </a:r>
            <a:endParaRPr lang="ko-KR" sz="1800" dirty="0"/>
          </a:p>
        </p:txBody>
      </p:sp>
      <p:sp>
        <p:nvSpPr>
          <p:cNvPr id="12" name="Text 10"/>
          <p:cNvSpPr/>
          <p:nvPr/>
        </p:nvSpPr>
        <p:spPr>
          <a:xfrm>
            <a:off x="1139003" y="4131925"/>
            <a:ext cx="658240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잎이 평소보다 처지거나 만졌을 때 얇고 부드럽게 느껴지는지 살핍니다.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8026199" y="3726240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A285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잎의 탄력 체크</a:t>
            </a:r>
            <a:endParaRPr lang="ko-KR" sz="1800" dirty="0"/>
          </a:p>
        </p:txBody>
      </p:sp>
      <p:sp>
        <p:nvSpPr>
          <p:cNvPr id="14" name="Text 12"/>
          <p:cNvSpPr/>
          <p:nvPr/>
        </p:nvSpPr>
        <p:spPr>
          <a:xfrm>
            <a:off x="8026199" y="4134941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식물의 시각적 표현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609585" y="4789388"/>
            <a:ext cx="9358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39003" y="4847511"/>
            <a:ext cx="658240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주기보다 계절과 통풍 고려</a:t>
            </a:r>
            <a:endParaRPr lang="ko-KR" sz="1800" dirty="0"/>
          </a:p>
        </p:txBody>
      </p:sp>
      <p:sp>
        <p:nvSpPr>
          <p:cNvPr id="17" name="Text 15"/>
          <p:cNvSpPr/>
          <p:nvPr/>
        </p:nvSpPr>
        <p:spPr>
          <a:xfrm>
            <a:off x="1139003" y="5253196"/>
            <a:ext cx="658240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'일주일에 한 번' 대신 날씨, 습도와 계절에 맞춰 유연하게 조절합니다.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8026199" y="4847511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A285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유연한 관리</a:t>
            </a:r>
            <a:endParaRPr lang="ko-KR" sz="1800" dirty="0"/>
          </a:p>
        </p:txBody>
      </p:sp>
      <p:sp>
        <p:nvSpPr>
          <p:cNvPr id="19" name="Text 17"/>
          <p:cNvSpPr/>
          <p:nvPr/>
        </p:nvSpPr>
        <p:spPr>
          <a:xfrm>
            <a:off x="8026199" y="5256212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ko-KR" alt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환경 맞춤 주기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609585" y="604127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spc="26" kern="100" dirty="0">
                <a:solidFill>
                  <a:srgbClr val="C3E3CF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식물마다 물의 양과 방법이 다릅니다. 흙과 잎을 살피고 식물별 관리 안내를 따르세요. 과습은 식물을 잃는 흔한 원인입니다.</a:t>
            </a:r>
            <a:endParaRPr lang="ko-KR" sz="1300" dirty="0"/>
          </a:p>
        </p:txBody>
      </p:sp>
      <p:sp>
        <p:nvSpPr>
          <p:cNvPr id="21" name="Shape 19"/>
          <p:cNvSpPr/>
          <p:nvPr/>
        </p:nvSpPr>
        <p:spPr>
          <a:xfrm>
            <a:off x="609585" y="3485257"/>
            <a:ext cx="10972526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4606528"/>
            <a:ext cx="10972526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7987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7061" y="629444"/>
            <a:ext cx="665463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DAILY OBSERVATION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537061" y="945493"/>
            <a:ext cx="604504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하루에 잠깐,</a:t>
            </a:r>
            <a:endParaRPr lang="ko-KR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변화를 살펴보세요</a:t>
            </a:r>
            <a:endParaRPr lang="ko-KR" sz="3000" dirty="0"/>
          </a:p>
        </p:txBody>
      </p:sp>
      <p:sp>
        <p:nvSpPr>
          <p:cNvPr id="5" name="Shape 2"/>
          <p:cNvSpPr/>
          <p:nvPr/>
        </p:nvSpPr>
        <p:spPr>
          <a:xfrm>
            <a:off x="5537061" y="2141538"/>
            <a:ext cx="6045049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37061" y="2763718"/>
            <a:ext cx="604504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8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아침 커피를 마실 때나 퇴근 후 잠시 화분 앞에 멈춰 서보세요. 1분의 다정한 관찰이 식물의 건강을 지켜줍니다.</a:t>
            </a:r>
            <a:endParaRPr lang="ko-KR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061" y="3617615"/>
            <a:ext cx="284453" cy="284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24709" y="3629382"/>
            <a:ext cx="555740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잎 관찰: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앞뒷면의 색과 반점을 살피고 달라진 점을 기록합니다.</a:t>
            </a:r>
            <a:endParaRPr lang="ko-KR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061" y="4369395"/>
            <a:ext cx="284453" cy="284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4709" y="4381163"/>
            <a:ext cx="555740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흙의 건조 상태: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화분의 무게나 겉흙의 색을 살핍니다.</a:t>
            </a:r>
            <a:endParaRPr lang="ko-KR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061" y="5121176"/>
            <a:ext cx="284453" cy="2844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24709" y="5132943"/>
            <a:ext cx="555740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환경 점검: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변화가 보이면 빛과 물을 하나씩 확인하고 창문을 열어 가볍게 환기합니다.</a:t>
            </a:r>
            <a:endParaRPr lang="ko-KR" sz="1600" dirty="0"/>
          </a:p>
        </p:txBody>
      </p:sp>
      <p:sp>
        <p:nvSpPr>
          <p:cNvPr id="13" name="Shape 7"/>
          <p:cNvSpPr/>
          <p:nvPr/>
        </p:nvSpPr>
        <p:spPr>
          <a:xfrm>
            <a:off x="5537061" y="4129385"/>
            <a:ext cx="6045049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5537061" y="4881166"/>
            <a:ext cx="6045049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0719"/>
            <a:ext cx="10972526" cy="2616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ko-KR" altLang="en-US" sz="4600" spc="-46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         “완벽하게 키우지 않아도 괜찮아요.</a:t>
            </a:r>
            <a:endParaRPr lang="ko-KR" sz="4600" dirty="0"/>
          </a:p>
          <a:p>
            <a:pPr algn="l" indent="0" marL="0">
              <a:lnSpc>
                <a:spcPct val="93000"/>
              </a:lnSpc>
              <a:buNone/>
            </a:pPr>
            <a:r>
              <a:rPr lang="ko-KR" altLang="en-US" sz="4600" spc="-46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         </a:t>
            </a:r>
            <a:pPr algn="l" indent="0" marL="0">
              <a:lnSpc>
                <a:spcPct val="93000"/>
              </a:lnSpc>
              <a:buNone/>
            </a:pPr>
            <a:r>
              <a:rPr lang="ko-KR" altLang="en-US" sz="4600" spc="-46" kern="100" dirty="0">
                <a:solidFill>
                  <a:srgbClr val="FFA285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잎 하나가 노랗게 지는 것도</a:t>
            </a:r>
            <a:endParaRPr lang="ko-KR" sz="4600" dirty="0"/>
          </a:p>
          <a:p>
            <a:pPr algn="l" indent="0" marL="0">
              <a:lnSpc>
                <a:spcPct val="93000"/>
              </a:lnSpc>
              <a:buNone/>
            </a:pPr>
            <a:r>
              <a:rPr lang="ko-KR" altLang="en-US" sz="4600" spc="-46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         서로를 알아가는 자연스러운 과정입니다.”       </a:t>
            </a:r>
            <a:endParaRPr lang="ko-KR" sz="4600" dirty="0"/>
          </a:p>
        </p:txBody>
      </p:sp>
      <p:sp>
        <p:nvSpPr>
          <p:cNvPr id="3" name="Shape 1"/>
          <p:cNvSpPr/>
          <p:nvPr/>
        </p:nvSpPr>
        <p:spPr>
          <a:xfrm>
            <a:off x="609585" y="4485481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4748689"/>
            <a:ext cx="804643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8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처음부터 전문가처럼 완벽할 수는 없습니다. 식물과 우리 집의 환경이 서로 맞춰가는 시간이라 생각하고, 작은 문제에는 관리 안내서를 찾아보며 여유롭게 대처해 보세요.</a:t>
            </a:r>
            <a:endParaRPr lang="ko-KR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944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C3E3C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5493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000" spc="-30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첫 화분을 만나는 세 단계</a:t>
            </a:r>
            <a:endParaRPr lang="ko-KR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22437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019921"/>
            <a:ext cx="8270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304381"/>
            <a:ext cx="3352716" cy="19050"/>
          </a:xfrm>
          <a:prstGeom prst="rect">
            <a:avLst/>
          </a:prstGeom>
          <a:solidFill>
            <a:srgbClr val="FFF4E2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17384"/>
            <a:ext cx="33527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자리와 빛 살피기</a:t>
            </a:r>
            <a:endParaRPr lang="ko-KR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923070"/>
            <a:ext cx="335271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1단계.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화분을 둘 장소를 정하고, 낮 동안 들어오는 볕의 양과 창문과의 거리를 가늠합니다.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4419489" y="3019921"/>
            <a:ext cx="8270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489" y="3304381"/>
            <a:ext cx="3352716" cy="19050"/>
          </a:xfrm>
          <a:prstGeom prst="rect">
            <a:avLst/>
          </a:prstGeom>
          <a:solidFill>
            <a:srgbClr val="FFF4E2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3517384"/>
            <a:ext cx="33527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쉬운 식물 고르기</a:t>
            </a:r>
            <a:endParaRPr lang="ko-KR" sz="1800" dirty="0"/>
          </a:p>
        </p:txBody>
      </p:sp>
      <p:sp>
        <p:nvSpPr>
          <p:cNvPr id="12" name="Text 10"/>
          <p:cNvSpPr/>
          <p:nvPr/>
        </p:nvSpPr>
        <p:spPr>
          <a:xfrm>
            <a:off x="4419489" y="3923070"/>
            <a:ext cx="335271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2단계.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파악한 빛 환경에 적합하면서도 건조에 강하고 순한 입문용 식물을 선택합니다.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8229394" y="3019921"/>
            <a:ext cx="8270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394" y="3304381"/>
            <a:ext cx="3352716" cy="19050"/>
          </a:xfrm>
          <a:prstGeom prst="rect">
            <a:avLst/>
          </a:prstGeom>
          <a:solidFill>
            <a:srgbClr val="FFF4E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394" y="3517384"/>
            <a:ext cx="33527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FFFFFF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0"/>
              </a:rPr>
              <a:t>관리법 익히며 맞이하기</a:t>
            </a:r>
            <a:endParaRPr lang="ko-KR" sz="1800" dirty="0"/>
          </a:p>
        </p:txBody>
      </p:sp>
      <p:sp>
        <p:nvSpPr>
          <p:cNvPr id="16" name="Text 14"/>
          <p:cNvSpPr/>
          <p:nvPr/>
        </p:nvSpPr>
        <p:spPr>
          <a:xfrm>
            <a:off x="8229394" y="3923070"/>
            <a:ext cx="335271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b="1" dirty="0">
                <a:solidFill>
                  <a:srgbClr val="F2F7F2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0"/>
              </a:rPr>
              <a:t>3단계.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 식물의 이름표와 물주기·빛 선호도를 기록한 뒤 다정한 마음으로 내 집에 들여놓습니다.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604127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1300" spc="26" kern="100" dirty="0">
                <a:solidFill>
                  <a:srgbClr val="C3E3CF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실천 팁: 동네 화원이나 가든 센터의 전문가에게 집 안의 채광 환경을 설명하고 추천을 받는 것도 좋습니다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445" y="3478689"/>
            <a:ext cx="561326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YOUR GREEN LIFE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97445" y="4117175"/>
            <a:ext cx="5003675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ko-KR" altLang="en-US" sz="3800" spc="-38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오늘, 나만의 작은</a:t>
            </a:r>
            <a:endParaRPr lang="ko-KR" sz="3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ko-KR" altLang="en-US" sz="3800" spc="-38" kern="100" dirty="0">
                <a:solidFill>
                  <a:srgbClr val="FFFFFF"/>
                </a:solidFill>
                <a:latin typeface="Noto Sans KR Light" pitchFamily="34" charset="0"/>
                <a:ea typeface="Noto Sans KR Light" pitchFamily="34" charset="-122"/>
                <a:cs typeface="Noto Sans KR Light" pitchFamily="34" charset="0"/>
              </a:rPr>
              <a:t>초록을 만나보세요</a:t>
            </a:r>
            <a:endParaRPr lang="ko-KR" sz="3800" dirty="0"/>
          </a:p>
        </p:txBody>
      </p:sp>
      <p:sp>
        <p:nvSpPr>
          <p:cNvPr id="4" name="Text 2"/>
          <p:cNvSpPr/>
          <p:nvPr/>
        </p:nvSpPr>
        <p:spPr>
          <a:xfrm>
            <a:off x="6197445" y="5337334"/>
            <a:ext cx="500367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마음에 드는 첫 화분을 찾아 반려식물과 함께 숨 쉬는 따뜻한 일상을 시작해 보세요.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197445" y="6048256"/>
            <a:ext cx="561326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300" spc="13" kern="100" dirty="0">
                <a:solidFill>
                  <a:srgbClr val="F2F7F2"/>
                </a:solidFill>
                <a:latin typeface="Noto Sans KR" pitchFamily="34" charset="0"/>
                <a:ea typeface="Noto Sans KR" pitchFamily="34" charset="-122"/>
                <a:cs typeface="Noto Sans KR" pitchFamily="34" charset="0"/>
              </a:rPr>
              <a:t>작은 초록이 만드는 큰 변화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2026-10-30T06:25:40Z</dcterms:created>
  <dcterms:modified xsi:type="dcterms:W3CDTF">2026-10-30T06:25:40Z</dcterms:modified>
</cp:coreProperties>
</file>